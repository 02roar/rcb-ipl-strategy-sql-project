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8" r:id="rId12"/>
    <p:sldId id="279" r:id="rId13"/>
    <p:sldId id="280" r:id="rId14"/>
    <p:sldId id="281" r:id="rId15"/>
    <p:sldId id="282" r:id="rId16"/>
    <p:sldId id="283" r:id="rId17"/>
    <p:sldId id="265" r:id="rId18"/>
    <p:sldId id="284" r:id="rId19"/>
    <p:sldId id="269" r:id="rId20"/>
    <p:sldId id="26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2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3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3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3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8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8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29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8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6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8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0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2828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64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07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21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54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8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77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Zomato Restaurant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Insights &amp; Business Recommendations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C526-2334-4DFF-E083-0FC527AC5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37" y="663679"/>
            <a:ext cx="7055380" cy="1400530"/>
          </a:xfrm>
        </p:spPr>
        <p:txBody>
          <a:bodyPr/>
          <a:lstStyle/>
          <a:p>
            <a:r>
              <a:rPr lang="en-IN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DFCBB-8543-7F81-934B-0A9CAA005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2281525"/>
            <a:ext cx="6711654" cy="4195481"/>
          </a:xfrm>
        </p:spPr>
        <p:txBody>
          <a:bodyPr/>
          <a:lstStyle/>
          <a:p>
            <a:pPr>
              <a:defRPr sz="2000"/>
            </a:pPr>
            <a:r>
              <a:rPr lang="en-US" dirty="0"/>
              <a:t>Where should Zomato expand next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Which markets have low competition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What factors influence success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78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837" y="996628"/>
            <a:ext cx="7055380" cy="1400530"/>
          </a:xfrm>
        </p:spPr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397158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1 table with 2</a:t>
            </a:r>
            <a:r>
              <a:rPr lang="en-IN" dirty="0"/>
              <a:t>3</a:t>
            </a:r>
            <a:r>
              <a:rPr dirty="0"/>
              <a:t> attributes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1</a:t>
            </a:r>
            <a:r>
              <a:rPr lang="en-IN" dirty="0"/>
              <a:t>4</a:t>
            </a:r>
            <a:r>
              <a:rPr dirty="0"/>
              <a:t> categorical variables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Data cleaned and prepared for analysis</a:t>
            </a:r>
            <a:endParaRPr lang="en-IN" dirty="0"/>
          </a:p>
          <a:p>
            <a:endParaRPr lang="en-IN" dirty="0"/>
          </a:p>
          <a:p>
            <a:r>
              <a:rPr lang="en-IN" dirty="0"/>
              <a:t>Clean, Consistent and Standardized Data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687327"/>
            <a:ext cx="7055380" cy="1400530"/>
          </a:xfrm>
        </p:spPr>
        <p:txBody>
          <a:bodyPr/>
          <a:lstStyle/>
          <a:p>
            <a:r>
              <a:rPr dirty="0"/>
              <a:t>Key KPI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720416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Total Restaurants: 955</a:t>
            </a:r>
            <a:r>
              <a:rPr lang="en-IN" dirty="0"/>
              <a:t>1</a:t>
            </a:r>
            <a:endParaRPr dirty="0"/>
          </a:p>
          <a:p>
            <a:r>
              <a:rPr dirty="0"/>
              <a:t>Average Rating: ~</a:t>
            </a:r>
            <a:r>
              <a:rPr lang="en-IN" dirty="0"/>
              <a:t>2.9</a:t>
            </a:r>
            <a:endParaRPr dirty="0"/>
          </a:p>
          <a:p>
            <a:r>
              <a:rPr dirty="0"/>
              <a:t>Total Votes analyzed</a:t>
            </a:r>
            <a:r>
              <a:rPr lang="en-IN" dirty="0"/>
              <a:t>:14,98,645</a:t>
            </a:r>
            <a:endParaRPr dirty="0"/>
          </a:p>
          <a:p>
            <a:r>
              <a:rPr dirty="0"/>
              <a:t>Average cost evaluated</a:t>
            </a:r>
            <a:r>
              <a:rPr lang="en-IN" dirty="0"/>
              <a:t>:1199.21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F37E5C-8F73-EBBE-FA4C-E5EAA2667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281" b="70957"/>
          <a:stretch>
            <a:fillRect/>
          </a:stretch>
        </p:blipFill>
        <p:spPr>
          <a:xfrm>
            <a:off x="893708" y="4662228"/>
            <a:ext cx="7811985" cy="1400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20" y="775912"/>
            <a:ext cx="7055380" cy="1400530"/>
          </a:xfrm>
        </p:spPr>
        <p:txBody>
          <a:bodyPr/>
          <a:lstStyle/>
          <a:p>
            <a:r>
              <a:rPr dirty="0"/>
              <a:t>Country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788429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India dominates with 8652 restaurants (&gt;90%)</a:t>
            </a:r>
          </a:p>
          <a:p>
            <a:r>
              <a:rPr dirty="0"/>
              <a:t>Canada has lowest presence (4 restaurants)</a:t>
            </a:r>
          </a:p>
          <a:p>
            <a:r>
              <a:rPr dirty="0"/>
              <a:t>Indicates high competition in India and opportunity elsewhere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2BC2E-D6BB-AFC2-40DD-569F1F1E0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93" r="54959" b="31920"/>
          <a:stretch>
            <a:fillRect/>
          </a:stretch>
        </p:blipFill>
        <p:spPr>
          <a:xfrm>
            <a:off x="827700" y="4413302"/>
            <a:ext cx="7055380" cy="1911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186" y="862621"/>
            <a:ext cx="7055380" cy="1400530"/>
          </a:xfrm>
        </p:spPr>
        <p:txBody>
          <a:bodyPr/>
          <a:lstStyle/>
          <a:p>
            <a:r>
              <a:rPr dirty="0"/>
              <a:t>Year-wise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12426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Restaurant openings stable (~1050–1100 yearly)</a:t>
            </a:r>
          </a:p>
          <a:p>
            <a:r>
              <a:rPr dirty="0"/>
              <a:t>Peak observed in 2018 with 1102 restaurants</a:t>
            </a:r>
          </a:p>
          <a:p>
            <a:r>
              <a:rPr dirty="0"/>
              <a:t>Indicates steady market growth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27082B-57BE-8C89-4A90-2421B17AF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00" y="4200340"/>
            <a:ext cx="7055380" cy="224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303" y="791677"/>
            <a:ext cx="7055380" cy="1400530"/>
          </a:xfrm>
        </p:spPr>
        <p:txBody>
          <a:bodyPr/>
          <a:lstStyle/>
          <a:p>
            <a:r>
              <a:rPr dirty="0"/>
              <a:t>Price Range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811100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Majority restaurants in Price Range 1 &amp; 2</a:t>
            </a:r>
          </a:p>
          <a:p>
            <a:r>
              <a:rPr dirty="0"/>
              <a:t>Mid-range stable</a:t>
            </a:r>
          </a:p>
          <a:p>
            <a:r>
              <a:rPr dirty="0"/>
              <a:t>Premium segment limited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DD202F-1275-37FE-B65D-7E4956D89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99" y="4094019"/>
            <a:ext cx="7055379" cy="231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846" y="652395"/>
            <a:ext cx="7055380" cy="1400530"/>
          </a:xfrm>
        </p:spPr>
        <p:txBody>
          <a:bodyPr/>
          <a:lstStyle/>
          <a:p>
            <a:r>
              <a:rPr dirty="0"/>
              <a:t>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846" y="1803543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Online delivery improves ratings</a:t>
            </a:r>
          </a:p>
          <a:p>
            <a:r>
              <a:rPr dirty="0"/>
              <a:t>Table booking enhances experience</a:t>
            </a:r>
          </a:p>
          <a:p>
            <a:r>
              <a:rPr dirty="0"/>
              <a:t>Convenience impacts satisfaction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2C5F3B1-F66F-9199-6B65-A5DFC7D07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00" y="4260268"/>
            <a:ext cx="3453836" cy="214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171F3FB-2836-0064-B43F-32F49A055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997" y="4260268"/>
            <a:ext cx="3372734" cy="214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5" y="652395"/>
            <a:ext cx="7055380" cy="1400530"/>
          </a:xfrm>
        </p:spPr>
        <p:txBody>
          <a:bodyPr/>
          <a:lstStyle/>
          <a:p>
            <a:r>
              <a:rPr dirty="0"/>
              <a:t>Cuisine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6442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Multi-cuisine performs best</a:t>
            </a:r>
          </a:p>
          <a:p>
            <a:r>
              <a:rPr dirty="0"/>
              <a:t>Popular cuisines receive higher ratings</a:t>
            </a:r>
          </a:p>
          <a:p>
            <a:r>
              <a:rPr dirty="0"/>
              <a:t>Cuisine choice affects feedback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BA5444C-C1F0-03E0-2B01-95ACA74B6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00" y="4247047"/>
            <a:ext cx="6767110" cy="227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837" y="765750"/>
            <a:ext cx="7055380" cy="1400530"/>
          </a:xfrm>
        </p:spPr>
        <p:txBody>
          <a:bodyPr/>
          <a:lstStyle/>
          <a:p>
            <a:r>
              <a:rPr dirty="0"/>
              <a:t>Competitor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96769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High rating + high votes = strong competitors</a:t>
            </a:r>
          </a:p>
          <a:p>
            <a:r>
              <a:rPr dirty="0"/>
              <a:t>Low-rated restaurants indicate opportunity</a:t>
            </a:r>
          </a:p>
          <a:p>
            <a:r>
              <a:rPr dirty="0"/>
              <a:t>Scope for improvement in weak segments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EB8FEF6-BD83-164D-43C0-914A92441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99" y="4182946"/>
            <a:ext cx="7055379" cy="222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F018-83DC-A0A1-E1F3-797FF12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1" y="112651"/>
            <a:ext cx="7055380" cy="1400530"/>
          </a:xfrm>
        </p:spPr>
        <p:txBody>
          <a:bodyPr/>
          <a:lstStyle/>
          <a:p>
            <a:r>
              <a:rPr lang="en-IN" dirty="0"/>
              <a:t>Count of Restaurants Country-wise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549B2-F0C8-777C-5871-AA7942681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83" y="1607060"/>
            <a:ext cx="8592337" cy="4195481"/>
          </a:xfrm>
        </p:spPr>
        <p:txBody>
          <a:bodyPr/>
          <a:lstStyle/>
          <a:p>
            <a:r>
              <a:rPr lang="en-IN" dirty="0"/>
              <a:t>India dominates the dataset with </a:t>
            </a:r>
            <a:r>
              <a:rPr lang="en-IN" b="1" dirty="0"/>
              <a:t>8,652 restaurants</a:t>
            </a:r>
            <a:r>
              <a:rPr lang="en-IN" dirty="0"/>
              <a:t>, accounting for over </a:t>
            </a:r>
            <a:r>
              <a:rPr lang="en-IN" b="1" dirty="0"/>
              <a:t>90%   of all restaurants.</a:t>
            </a:r>
            <a:br>
              <a:rPr lang="en-IN" b="1" dirty="0"/>
            </a:br>
            <a:endParaRPr lang="en-IN" b="1" dirty="0"/>
          </a:p>
          <a:p>
            <a:r>
              <a:rPr lang="en-IN" dirty="0"/>
              <a:t>Most other countries have fewer than </a:t>
            </a:r>
            <a:r>
              <a:rPr lang="en-IN" b="1" dirty="0"/>
              <a:t>100 restaurants</a:t>
            </a:r>
            <a:r>
              <a:rPr lang="en-IN" dirty="0"/>
              <a:t>, indicating the dataset is heavily concentrated in India.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05AE64-C23F-CBA2-5CE3-F0C20DB2D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282" y="3627372"/>
            <a:ext cx="7768622" cy="298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28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B985-1E31-1A10-F022-2AAA245B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53" y="127765"/>
            <a:ext cx="7055380" cy="1400530"/>
          </a:xfrm>
        </p:spPr>
        <p:txBody>
          <a:bodyPr/>
          <a:lstStyle/>
          <a:p>
            <a:r>
              <a:rPr lang="en-IN" dirty="0"/>
              <a:t>Count of Restaurants Year-wise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C4CC9C-68F3-51E9-6FA9-F53891DC8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16" y="1735530"/>
            <a:ext cx="6711654" cy="4195481"/>
          </a:xfrm>
        </p:spPr>
        <p:txBody>
          <a:bodyPr/>
          <a:lstStyle/>
          <a:p>
            <a:r>
              <a:rPr lang="en-IN" dirty="0"/>
              <a:t>The number of restaurant openings remains relatively stable between </a:t>
            </a:r>
            <a:r>
              <a:rPr lang="en-IN" b="1" dirty="0"/>
              <a:t>2010 and 2017</a:t>
            </a:r>
            <a:r>
              <a:rPr lang="en-IN" dirty="0"/>
              <a:t>, ranging around 1,000 restaurants annually.</a:t>
            </a:r>
          </a:p>
          <a:p>
            <a:r>
              <a:rPr lang="en-IN" dirty="0"/>
              <a:t>2011 records the highest number of restaurant openings, while 2016 shows a slight dip.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70919F7-F81B-08A4-6C04-D6CD66059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16" y="3896878"/>
            <a:ext cx="7520129" cy="273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847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366B-D0F4-A25A-54FD-C4764D8B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41" y="105095"/>
            <a:ext cx="7055380" cy="1400530"/>
          </a:xfrm>
        </p:spPr>
        <p:txBody>
          <a:bodyPr/>
          <a:lstStyle/>
          <a:p>
            <a:r>
              <a:rPr lang="en-IN" dirty="0"/>
              <a:t>Average rating country- wise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8A811-22D9-47D8-9878-6F5AEEE5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104" y="1682631"/>
            <a:ext cx="6711654" cy="4195481"/>
          </a:xfrm>
        </p:spPr>
        <p:txBody>
          <a:bodyPr/>
          <a:lstStyle/>
          <a:p>
            <a:r>
              <a:rPr lang="en-IN" dirty="0"/>
              <a:t>The Philippines has the highest average restaurant rating of approximately </a:t>
            </a:r>
            <a:r>
              <a:rPr lang="en-IN" b="1" dirty="0"/>
              <a:t>4.5</a:t>
            </a:r>
            <a:r>
              <a:rPr lang="en-IN" dirty="0"/>
              <a:t>.</a:t>
            </a:r>
          </a:p>
          <a:p>
            <a:r>
              <a:rPr lang="en-IN" dirty="0"/>
              <a:t>Turkey, Indonesia, and New Zealand also maintain high average ratings above </a:t>
            </a:r>
            <a:r>
              <a:rPr lang="en-IN" b="1" dirty="0"/>
              <a:t>4.3</a:t>
            </a:r>
            <a:r>
              <a:rPr lang="en-IN" dirty="0"/>
              <a:t>, indicating strong customer satisfaction.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3AE982-2584-283B-236A-BDFF161EE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04" y="3725153"/>
            <a:ext cx="7625925" cy="292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303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13C3-2B8B-C07F-1435-B86FD3DD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69" y="127766"/>
            <a:ext cx="7055380" cy="1400530"/>
          </a:xfrm>
        </p:spPr>
        <p:txBody>
          <a:bodyPr/>
          <a:lstStyle/>
          <a:p>
            <a:r>
              <a:rPr lang="en-IN" dirty="0"/>
              <a:t>Average votes country-wise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01CDC-E938-D1F4-A9AF-6B459318A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848" y="1675073"/>
            <a:ext cx="6711654" cy="4195481"/>
          </a:xfrm>
        </p:spPr>
        <p:txBody>
          <a:bodyPr/>
          <a:lstStyle/>
          <a:p>
            <a:r>
              <a:rPr lang="en-IN" dirty="0"/>
              <a:t>Indonesia records the highest average votes (</a:t>
            </a:r>
            <a:r>
              <a:rPr lang="en-IN" b="1" dirty="0"/>
              <a:t>772</a:t>
            </a:r>
            <a:r>
              <a:rPr lang="en-IN" dirty="0"/>
              <a:t>), indicating very active customer participation.</a:t>
            </a:r>
          </a:p>
          <a:p>
            <a:r>
              <a:rPr lang="en-IN" dirty="0"/>
              <a:t>Brazil and Canada receive relatively fewer votes, suggesting lower customer review activity.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BB5301B-27EA-1C2B-52C5-DFB8081E3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48" y="3748284"/>
            <a:ext cx="7651283" cy="288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313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5C49-58A4-EBCD-D961-81BC05EE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25" y="105095"/>
            <a:ext cx="7525737" cy="1400530"/>
          </a:xfrm>
        </p:spPr>
        <p:txBody>
          <a:bodyPr/>
          <a:lstStyle/>
          <a:p>
            <a:r>
              <a:rPr lang="en-US" dirty="0"/>
              <a:t>Average cost of two of countries(converted into INR)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74EF-3AF2-A922-70C1-F74EED150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06" y="2120938"/>
            <a:ext cx="7525737" cy="4195481"/>
          </a:xfrm>
        </p:spPr>
        <p:txBody>
          <a:bodyPr/>
          <a:lstStyle/>
          <a:p>
            <a:r>
              <a:rPr lang="en-IN" dirty="0"/>
              <a:t>Singapore has the highest average dining cost, making it the most expensive market in the dataset.</a:t>
            </a:r>
          </a:p>
          <a:p>
            <a:r>
              <a:rPr lang="en-IN" dirty="0"/>
              <a:t>Turkey offers the most affordable dining experience among the listed countries.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13EA51-8949-6275-67CA-E8DF8A7CA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06" y="3933448"/>
            <a:ext cx="7666396" cy="271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107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9ECA-AE1A-122A-FE53-358E1FED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12" y="256236"/>
            <a:ext cx="7055380" cy="1400530"/>
          </a:xfrm>
        </p:spPr>
        <p:txBody>
          <a:bodyPr/>
          <a:lstStyle/>
          <a:p>
            <a:r>
              <a:rPr lang="en-US" dirty="0"/>
              <a:t>Top 10 Cuisines (Highest voted and all rated 4.9)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3CD7-7AF7-C1F4-2C3D-DE29FF369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75" y="1879113"/>
            <a:ext cx="6711654" cy="4195481"/>
          </a:xfrm>
        </p:spPr>
        <p:txBody>
          <a:bodyPr/>
          <a:lstStyle/>
          <a:p>
            <a:r>
              <a:rPr lang="en-IN" dirty="0"/>
              <a:t>European cuisine receives the highest total votes, indicating strong customer engagement.</a:t>
            </a:r>
          </a:p>
          <a:p>
            <a:r>
              <a:rPr lang="en-IN" dirty="0"/>
              <a:t>North Indian and Chinese cuisine combinations are among the most popular food preferences.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9605150-7C7A-7DBC-2D0F-A54C330AA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5" y="3687828"/>
            <a:ext cx="7618370" cy="299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307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837" y="762556"/>
            <a:ext cx="7055380" cy="1400530"/>
          </a:xfrm>
        </p:spPr>
        <p:txBody>
          <a:bodyPr/>
          <a:lstStyle/>
          <a:p>
            <a:r>
              <a:rPr dirty="0"/>
              <a:t>Business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828" y="2385434"/>
            <a:ext cx="6711654" cy="4195481"/>
          </a:xfrm>
        </p:spPr>
        <p:txBody>
          <a:bodyPr/>
          <a:lstStyle/>
          <a:p>
            <a:endParaRPr dirty="0"/>
          </a:p>
          <a:p>
            <a:r>
              <a:rPr dirty="0"/>
              <a:t>Expand in low competition countries</a:t>
            </a:r>
          </a:p>
          <a:p>
            <a:r>
              <a:rPr dirty="0"/>
              <a:t>Focus on mid-range pricing</a:t>
            </a:r>
          </a:p>
          <a:p>
            <a:r>
              <a:rPr dirty="0"/>
              <a:t>Leverage delivery and popular cuisines</a:t>
            </a:r>
          </a:p>
          <a:p>
            <a:r>
              <a:rPr dirty="0"/>
              <a:t>Target high-rating cities</a:t>
            </a:r>
            <a:endParaRPr lang="en-IN" dirty="0"/>
          </a:p>
          <a:p>
            <a:r>
              <a:rPr lang="en-IN" dirty="0"/>
              <a:t>Expansion Destinations include Indonesia,</a:t>
            </a:r>
          </a:p>
          <a:p>
            <a:pPr marL="0" indent="0">
              <a:buNone/>
            </a:pPr>
            <a:r>
              <a:rPr lang="en-IN" dirty="0"/>
              <a:t>     Turkey and Philippines.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ECE4-7898-EBAF-6EC2-87807040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991" y="210893"/>
            <a:ext cx="7055380" cy="1400530"/>
          </a:xfrm>
        </p:spPr>
        <p:txBody>
          <a:bodyPr/>
          <a:lstStyle/>
          <a:p>
            <a:r>
              <a:rPr lang="en-IN" dirty="0"/>
              <a:t>Interactive Dashboard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D94D7D-E2C8-7166-0395-74D53967F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087" y="1541633"/>
            <a:ext cx="7455412" cy="445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68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FE5E-0E14-8CAD-4BDA-CE622011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55" y="831090"/>
            <a:ext cx="7055380" cy="1400530"/>
          </a:xfrm>
        </p:spPr>
        <p:txBody>
          <a:bodyPr/>
          <a:lstStyle/>
          <a:p>
            <a:r>
              <a:rPr lang="en-IN" dirty="0"/>
              <a:t>Final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37862-6C72-F82B-A39A-384DD3BE4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18" y="2423415"/>
            <a:ext cx="6711654" cy="4195481"/>
          </a:xfrm>
        </p:spPr>
        <p:txBody>
          <a:bodyPr/>
          <a:lstStyle/>
          <a:p>
            <a:pPr>
              <a:defRPr sz="2000"/>
            </a:pPr>
            <a:r>
              <a:rPr lang="en-US" dirty="0"/>
              <a:t>Target Indonesia, Turkey, Philippines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Focus on customer experience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Use data-driven expansion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346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837" y="661985"/>
            <a:ext cx="7055380" cy="140053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837" y="1875661"/>
            <a:ext cx="6711654" cy="4195481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Market dominated by affordable dining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Stable growth observed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Data-driven expansion strategy recommended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>
              <a:defRPr sz="2000"/>
            </a:pPr>
            <a:r>
              <a:rPr lang="en-US" dirty="0"/>
              <a:t>Affordable, quality-driven strategy wins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Strong opportunity for expansion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192</TotalTime>
  <Words>475</Words>
  <Application>Microsoft Office PowerPoint</Application>
  <PresentationFormat>On-screen Show (4:3)</PresentationFormat>
  <Paragraphs>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Century Gothic</vt:lpstr>
      <vt:lpstr>Wingdings 3</vt:lpstr>
      <vt:lpstr>Ion</vt:lpstr>
      <vt:lpstr>Zomato Restaurant Analysis</vt:lpstr>
      <vt:lpstr>The Problem</vt:lpstr>
      <vt:lpstr>Dataset Overview</vt:lpstr>
      <vt:lpstr>Key KPI Summary</vt:lpstr>
      <vt:lpstr>Country Insights</vt:lpstr>
      <vt:lpstr>Year-wise Trend</vt:lpstr>
      <vt:lpstr>Price Range Analysis</vt:lpstr>
      <vt:lpstr>Customer Behavior</vt:lpstr>
      <vt:lpstr>Cuisine Insights</vt:lpstr>
      <vt:lpstr>Competitor Analysis</vt:lpstr>
      <vt:lpstr>Count of Restaurants Country-wise</vt:lpstr>
      <vt:lpstr>Count of Restaurants Year-wise</vt:lpstr>
      <vt:lpstr>Average rating country- wise</vt:lpstr>
      <vt:lpstr>Average votes country-wise</vt:lpstr>
      <vt:lpstr>Average cost of two of countries(converted into INR)</vt:lpstr>
      <vt:lpstr>Top 10 Cuisines (Highest voted and all rated 4.9)</vt:lpstr>
      <vt:lpstr>Business Recommendation</vt:lpstr>
      <vt:lpstr>Interactive Dashboard 1</vt:lpstr>
      <vt:lpstr>Final Recommendation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CHAITANYA PATIL</cp:lastModifiedBy>
  <cp:revision>10</cp:revision>
  <dcterms:created xsi:type="dcterms:W3CDTF">2013-01-27T09:14:16Z</dcterms:created>
  <dcterms:modified xsi:type="dcterms:W3CDTF">2026-06-05T09:29:04Z</dcterms:modified>
  <cp:category/>
</cp:coreProperties>
</file>